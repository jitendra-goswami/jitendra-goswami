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5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1" r:id="rId14"/>
    <p:sldId id="272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29480E9-6B8D-457A-A012-9FCB0DBA4BA1}">
          <p14:sldIdLst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49717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580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21332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2448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5672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803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5964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ED1DB59-35DA-450B-8C54-F446C7387A2C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49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090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8961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DB59-35DA-450B-8C54-F446C7387A2C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8261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ED1DB59-35DA-450B-8C54-F446C7387A2C}" type="datetimeFigureOut">
              <a:rPr lang="en-IN" smtClean="0"/>
              <a:t>10-06-2026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2D7B447-997D-4F69-A7DA-4D8FB881CE81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6334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905C18-3EA4-3246-0343-FD4A8F965C26}"/>
              </a:ext>
            </a:extLst>
          </p:cNvPr>
          <p:cNvSpPr txBox="1"/>
          <p:nvPr/>
        </p:nvSpPr>
        <p:spPr>
          <a:xfrm>
            <a:off x="127819" y="1671483"/>
            <a:ext cx="1193636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Kickstarter Performance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BEB69E-C6FE-FF20-5B64-7C9803FD2248}"/>
              </a:ext>
            </a:extLst>
          </p:cNvPr>
          <p:cNvSpPr txBox="1"/>
          <p:nvPr/>
        </p:nvSpPr>
        <p:spPr>
          <a:xfrm>
            <a:off x="0" y="3429000"/>
            <a:ext cx="12192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Ritesh Gaikwad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Ashmika K.V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Sakshi Ghanshyam Gandhi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Gaurav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Chanduji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Acharya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Jitendra Goswami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Anirudh S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4234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30B3E5-2DE7-AFDE-3E53-984B040BA4A3}"/>
              </a:ext>
            </a:extLst>
          </p:cNvPr>
          <p:cNvSpPr txBox="1"/>
          <p:nvPr/>
        </p:nvSpPr>
        <p:spPr>
          <a:xfrm>
            <a:off x="0" y="0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Index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959EAF3-4872-6024-8431-04D6FB55CB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3898134"/>
              </p:ext>
            </p:extLst>
          </p:nvPr>
        </p:nvGraphicFramePr>
        <p:xfrm>
          <a:off x="2628490" y="891525"/>
          <a:ext cx="6935019" cy="531262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66839">
                  <a:extLst>
                    <a:ext uri="{9D8B030D-6E8A-4147-A177-3AD203B41FA5}">
                      <a16:colId xmlns:a16="http://schemas.microsoft.com/office/drawing/2014/main" val="2015018968"/>
                    </a:ext>
                  </a:extLst>
                </a:gridCol>
                <a:gridCol w="5968180">
                  <a:extLst>
                    <a:ext uri="{9D8B030D-6E8A-4147-A177-3AD203B41FA5}">
                      <a16:colId xmlns:a16="http://schemas.microsoft.com/office/drawing/2014/main" val="3165384085"/>
                    </a:ext>
                  </a:extLst>
                </a:gridCol>
              </a:tblGrid>
              <a:tr h="41157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SR.NO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SLIDES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687992"/>
                  </a:ext>
                </a:extLst>
              </a:tr>
              <a:tr h="7001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Introduction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26176224"/>
                  </a:ext>
                </a:extLst>
              </a:tr>
              <a:tr h="7001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 Source &amp; Tools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1674409"/>
                  </a:ext>
                </a:extLst>
              </a:tr>
              <a:tr h="7001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KPI Analysis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8090611"/>
                  </a:ext>
                </a:extLst>
              </a:tr>
              <a:tr h="7001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Dashboard Overview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8245277"/>
                  </a:ext>
                </a:extLst>
              </a:tr>
              <a:tr h="7001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SQL Implementation</a:t>
                      </a:r>
                    </a:p>
                    <a:p>
                      <a:pPr algn="ctr"/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7746649"/>
                  </a:ext>
                </a:extLst>
              </a:tr>
              <a:tr h="7001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Conclusion &amp; Suggestions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7611321"/>
                  </a:ext>
                </a:extLst>
              </a:tr>
              <a:tr h="700150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Challenges &amp; Learnings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06873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1764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15700-B57B-E4C9-08FA-F15CE17E6C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29174AF-26E2-03C1-B639-13243F5DA26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9368" y="1442147"/>
            <a:ext cx="9946312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Kickstarter crowdfunding projects.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Identify project success trends.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 funding and backer behavior.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IN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ool Used:</a:t>
            </a: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MySQL → Data storage &amp; querying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Power BI → Dashboard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Tableau → Visualization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Excel → Data cleaning &amp; Transformation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9956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114390-8B94-3587-F76D-89B9162209B3}"/>
              </a:ext>
            </a:extLst>
          </p:cNvPr>
          <p:cNvSpPr txBox="1"/>
          <p:nvPr/>
        </p:nvSpPr>
        <p:spPr>
          <a:xfrm>
            <a:off x="0" y="6882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Performance Indicator Slides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3A0AC8-110F-038A-A92B-D4E29DF55F1D}"/>
              </a:ext>
            </a:extLst>
          </p:cNvPr>
          <p:cNvSpPr txBox="1"/>
          <p:nvPr/>
        </p:nvSpPr>
        <p:spPr>
          <a:xfrm>
            <a:off x="0" y="948690"/>
            <a:ext cx="121920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1: Total Amount Raised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Overall funding achieved.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Successfully funded projects raised approximately $3.5 Billion.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2: Total Backers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Community participation.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Successful projects attracted around 40 Million Backers.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3: Average Successful Days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Average campaign duration.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Successful projects ran for approximately 32 Days.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A174FE-7FCA-D688-685B-0CEB99BA1B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44" y="1309841"/>
            <a:ext cx="4314825" cy="8953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A69BCF2-F113-CAB4-9843-EB0D686067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0044" y="2762132"/>
            <a:ext cx="4314825" cy="8953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E9E0BCD-BD31-A0FC-C233-1E757EEB31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0044" y="4230417"/>
            <a:ext cx="4314825" cy="8953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0134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1AF894-74EE-2AEA-15C2-FC071F91C2AC}"/>
              </a:ext>
            </a:extLst>
          </p:cNvPr>
          <p:cNvSpPr txBox="1"/>
          <p:nvPr/>
        </p:nvSpPr>
        <p:spPr>
          <a:xfrm>
            <a:off x="0" y="6882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43E46D-FCF9-6698-2FA8-5FF24DBDF65B}"/>
              </a:ext>
            </a:extLst>
          </p:cNvPr>
          <p:cNvSpPr txBox="1"/>
          <p:nvPr/>
        </p:nvSpPr>
        <p:spPr>
          <a:xfrm>
            <a:off x="0" y="855406"/>
            <a:ext cx="609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4: Project Success Rate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Overall platform performance.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About 38.3% of projects were successful.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657369-66B1-E18E-3A2D-6C04A1035158}"/>
              </a:ext>
            </a:extLst>
          </p:cNvPr>
          <p:cNvSpPr txBox="1"/>
          <p:nvPr/>
        </p:nvSpPr>
        <p:spPr>
          <a:xfrm>
            <a:off x="6096000" y="855405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5: Projects by Outcome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Distribution of project statuses.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Failed projects dominate, followed by successful projects.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9B6F11-49CF-66CE-A56D-A1B5DA19F4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179" y="2943820"/>
            <a:ext cx="3763144" cy="9382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A2276EF-A060-A21C-4474-A30DC9D8B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446" y="2391393"/>
            <a:ext cx="4905375" cy="2981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86679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CF032D-4999-8A58-9D6A-BA249470B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E15A5A-43BB-7132-EB0C-9DAC98B19CB6}"/>
              </a:ext>
            </a:extLst>
          </p:cNvPr>
          <p:cNvSpPr txBox="1"/>
          <p:nvPr/>
        </p:nvSpPr>
        <p:spPr>
          <a:xfrm>
            <a:off x="0" y="6882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ED5509-2CA5-AC60-8D6D-6690656A7340}"/>
              </a:ext>
            </a:extLst>
          </p:cNvPr>
          <p:cNvSpPr txBox="1"/>
          <p:nvPr/>
        </p:nvSpPr>
        <p:spPr>
          <a:xfrm>
            <a:off x="0" y="855406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6: Projects by Category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Most popular categories.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Product Design, Tabletop Games, and Music have the highest number of projects.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9FF443-8663-0A7C-FA21-AD82D95D0745}"/>
              </a:ext>
            </a:extLst>
          </p:cNvPr>
          <p:cNvSpPr txBox="1"/>
          <p:nvPr/>
        </p:nvSpPr>
        <p:spPr>
          <a:xfrm>
            <a:off x="6096000" y="855405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7: Projects by Location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Geographic concentration.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Los Angeles, New York, and London lead in project creation.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26BF46-43CF-5D92-6EEF-19FEADC0EA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208" y="2459447"/>
            <a:ext cx="4914900" cy="29813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E136459-F4D0-7411-EDBD-2A142E2F3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5702" y="2459447"/>
            <a:ext cx="4886325" cy="29908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770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32BE8-6F5E-F5AB-A380-3A99FDC87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EEB335-7D22-EBD9-0225-4EBA081266C8}"/>
              </a:ext>
            </a:extLst>
          </p:cNvPr>
          <p:cNvSpPr txBox="1"/>
          <p:nvPr/>
        </p:nvSpPr>
        <p:spPr>
          <a:xfrm>
            <a:off x="0" y="6882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E7E2C1-3FB7-B4A8-46DD-DFC4F5342867}"/>
              </a:ext>
            </a:extLst>
          </p:cNvPr>
          <p:cNvSpPr txBox="1"/>
          <p:nvPr/>
        </p:nvSpPr>
        <p:spPr>
          <a:xfrm>
            <a:off x="0" y="855406"/>
            <a:ext cx="6096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8: Projects Trend Over Time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Growth pattern.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Strong growth until 2014–2015 followed by stabilization.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64308C-CE0C-CBE6-9CC3-42F52CC70677}"/>
              </a:ext>
            </a:extLst>
          </p:cNvPr>
          <p:cNvSpPr txBox="1"/>
          <p:nvPr/>
        </p:nvSpPr>
        <p:spPr>
          <a:xfrm>
            <a:off x="6096000" y="855405"/>
            <a:ext cx="6096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9: Success Rate by Goal Range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Funding target impact.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Lower funding goals have significantly higher success rates.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2D5E0E2-AA2A-4038-C5B3-280C1797C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332734"/>
            <a:ext cx="5791200" cy="3552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4EE13ED-E6E4-A705-D298-4BAF25AE8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2276229"/>
            <a:ext cx="5753100" cy="36093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7090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8617FB-4528-D994-526B-22D5F8339282}"/>
              </a:ext>
            </a:extLst>
          </p:cNvPr>
          <p:cNvSpPr txBox="1"/>
          <p:nvPr/>
        </p:nvSpPr>
        <p:spPr>
          <a:xfrm>
            <a:off x="0" y="68826"/>
            <a:ext cx="1219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AB4182-79EF-8CD3-5EBE-EFF0DE4401F7}"/>
              </a:ext>
            </a:extLst>
          </p:cNvPr>
          <p:cNvSpPr txBox="1"/>
          <p:nvPr/>
        </p:nvSpPr>
        <p:spPr>
          <a:xfrm>
            <a:off x="0" y="1366707"/>
            <a:ext cx="12192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10: Top Projects Analysis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 Highest-performing campaigns.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Observation: Projects such as Exploding Kittens and Pebble Time achieved exceptional funding and backer support.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50E60A6-1516-5F00-8F22-00D98DBF4E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910" y="2522282"/>
            <a:ext cx="5791200" cy="35242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581710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DEBCEF-6807-15A4-F13A-EA210FC2B654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274355-94CD-A983-97F4-D5DEE4F6A2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55"/>
          <a:stretch>
            <a:fillRect/>
          </a:stretch>
        </p:blipFill>
        <p:spPr>
          <a:xfrm>
            <a:off x="94017" y="875071"/>
            <a:ext cx="12003965" cy="43937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70330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B3483-1E68-73B1-FB49-5AE609DA0C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A3DA451-F2D7-CFE3-F1B8-CD8C35984764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0084C0-32C2-A31D-A8E4-12E80683EE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4" y="688720"/>
            <a:ext cx="12064171" cy="54805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43632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0EAC7B-13AA-CF36-207C-C688FD30D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0846A48-2B96-DFDF-15D8-7A5B60950A5F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 Overview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054BEE-5155-D424-85A2-075CF1B54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851" y="584775"/>
            <a:ext cx="11002297" cy="61449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7217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A709-4CC8-5517-3838-7162818F0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5DAD32-FBF0-E035-68A7-B0BCB0E8102C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defTabSz="914400">
              <a:defRPr/>
            </a:pP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 Implementation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D8B868-21EA-B015-E662-687C76ECEB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439"/>
          <a:stretch>
            <a:fillRect/>
          </a:stretch>
        </p:blipFill>
        <p:spPr>
          <a:xfrm>
            <a:off x="693337" y="688940"/>
            <a:ext cx="11002945" cy="58525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1136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66D9FE-C624-CDAD-F85E-0BC23E6B0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2ACA0-25C3-1D1F-E362-C1C2DDD79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Suggestions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DEC0599-1A24-1F68-7F40-94174512915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09368" y="1843121"/>
            <a:ext cx="9946312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Kickstarter generated significant funding.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Product Design is the leading category.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Large cities dominate project creation.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Lower funding goals show better success rates.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Suggestions</a:t>
            </a:r>
            <a:endParaRPr lang="en-US" altLang="en-US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Encourage realistic funding goals.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Promote projects in emerging locations.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Focus on categories with high success rates.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Improve visibility for new creators.</a:t>
            </a:r>
          </a:p>
        </p:txBody>
      </p:sp>
    </p:spTree>
    <p:extLst>
      <p:ext uri="{BB962C8B-B14F-4D97-AF65-F5344CB8AC3E}">
        <p14:creationId xmlns:p14="http://schemas.microsoft.com/office/powerpoint/2010/main" val="27869510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7A57-5FC5-257F-E696-AE044A337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120F5-01FC-5095-43DE-53209471C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&amp; Learnings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4FEE7A-5CCA-709F-7DA8-810E8AF8CC5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53324" y="1131808"/>
            <a:ext cx="9946312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IN" sz="2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cleaning and formatting.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Date conversion in SQL.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Location table mapping issues.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 formatting in Tableau and Power BI.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altLang="en-US" sz="2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Learnings</a:t>
            </a: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Dashboard development.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KPI analysis and storytelling.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End-to-end data analytics workflow.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SQL joins and aggregations.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E481339-7970-92FE-A4EF-01CD9389E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02154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255</TotalTime>
  <Words>471</Words>
  <Application>Microsoft Office PowerPoint</Application>
  <PresentationFormat>Widescreen</PresentationFormat>
  <Paragraphs>114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Times New Roman</vt:lpstr>
      <vt:lpstr>Retrospect</vt:lpstr>
      <vt:lpstr>PowerPoint Presentation</vt:lpstr>
      <vt:lpstr>PowerPoint Presentation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&amp; Suggestions</vt:lpstr>
      <vt:lpstr>Challenges &amp; Learnings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Gaikwad</dc:creator>
  <cp:lastModifiedBy>Rohan Gaikwad</cp:lastModifiedBy>
  <cp:revision>6</cp:revision>
  <dcterms:created xsi:type="dcterms:W3CDTF">2026-04-30T13:34:04Z</dcterms:created>
  <dcterms:modified xsi:type="dcterms:W3CDTF">2026-06-10T10:01:31Z</dcterms:modified>
</cp:coreProperties>
</file>